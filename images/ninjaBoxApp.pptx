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954" autoAdjust="0"/>
  </p:normalViewPr>
  <p:slideViewPr>
    <p:cSldViewPr snapToGrid="0">
      <p:cViewPr varScale="1">
        <p:scale>
          <a:sx n="77" d="100"/>
          <a:sy n="77" d="100"/>
        </p:scale>
        <p:origin x="883"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D9B674E-F66C-4E70-AC10-0F9A01E322AB}" type="datetimeFigureOut">
              <a:rPr lang="en-US" smtClean="0"/>
              <a:t>7/11/2024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14C347-1BB1-4972-89C6-2465AA6F87E5}"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65013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9B674E-F66C-4E70-AC10-0F9A01E322AB}" type="datetimeFigureOut">
              <a:rPr lang="en-US" smtClean="0"/>
              <a:t>7/11/2024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14C347-1BB1-4972-89C6-2465AA6F87E5}" type="slidenum">
              <a:rPr lang="en-US" smtClean="0"/>
              <a:t>‹#›</a:t>
            </a:fld>
            <a:endParaRPr lang="en-US"/>
          </a:p>
        </p:txBody>
      </p:sp>
    </p:spTree>
    <p:extLst>
      <p:ext uri="{BB962C8B-B14F-4D97-AF65-F5344CB8AC3E}">
        <p14:creationId xmlns:p14="http://schemas.microsoft.com/office/powerpoint/2010/main" val="2881407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9B674E-F66C-4E70-AC10-0F9A01E322AB}" type="datetimeFigureOut">
              <a:rPr lang="en-US" smtClean="0"/>
              <a:t>7/11/2024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14C347-1BB1-4972-89C6-2465AA6F87E5}" type="slidenum">
              <a:rPr lang="en-US" smtClean="0"/>
              <a:t>‹#›</a:t>
            </a:fld>
            <a:endParaRPr lang="en-US"/>
          </a:p>
        </p:txBody>
      </p:sp>
    </p:spTree>
    <p:extLst>
      <p:ext uri="{BB962C8B-B14F-4D97-AF65-F5344CB8AC3E}">
        <p14:creationId xmlns:p14="http://schemas.microsoft.com/office/powerpoint/2010/main" val="1943533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D9B674E-F66C-4E70-AC10-0F9A01E322AB}" type="datetimeFigureOut">
              <a:rPr lang="en-US" smtClean="0"/>
              <a:t>7/11/2024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14C347-1BB1-4972-89C6-2465AA6F87E5}" type="slidenum">
              <a:rPr lang="en-US" smtClean="0"/>
              <a:t>‹#›</a:t>
            </a:fld>
            <a:endParaRPr lang="en-US"/>
          </a:p>
        </p:txBody>
      </p:sp>
    </p:spTree>
    <p:extLst>
      <p:ext uri="{BB962C8B-B14F-4D97-AF65-F5344CB8AC3E}">
        <p14:creationId xmlns:p14="http://schemas.microsoft.com/office/powerpoint/2010/main" val="1369369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D9B674E-F66C-4E70-AC10-0F9A01E322AB}" type="datetimeFigureOut">
              <a:rPr lang="en-US" smtClean="0"/>
              <a:t>7/11/2024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614C347-1BB1-4972-89C6-2465AA6F87E5}" type="slidenum">
              <a:rPr lang="en-US" smtClean="0"/>
              <a:t>‹#›</a:t>
            </a:fld>
            <a:endParaRPr lang="en-US"/>
          </a:p>
        </p:txBody>
      </p:sp>
    </p:spTree>
    <p:extLst>
      <p:ext uri="{BB962C8B-B14F-4D97-AF65-F5344CB8AC3E}">
        <p14:creationId xmlns:p14="http://schemas.microsoft.com/office/powerpoint/2010/main" val="48314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D9B674E-F66C-4E70-AC10-0F9A01E322AB}" type="datetimeFigureOut">
              <a:rPr lang="en-US" smtClean="0"/>
              <a:t>7/11/2024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614C347-1BB1-4972-89C6-2465AA6F87E5}" type="slidenum">
              <a:rPr lang="en-US" smtClean="0"/>
              <a:t>‹#›</a:t>
            </a:fld>
            <a:endParaRPr lang="en-US"/>
          </a:p>
        </p:txBody>
      </p:sp>
    </p:spTree>
    <p:extLst>
      <p:ext uri="{BB962C8B-B14F-4D97-AF65-F5344CB8AC3E}">
        <p14:creationId xmlns:p14="http://schemas.microsoft.com/office/powerpoint/2010/main" val="3015465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9B674E-F66C-4E70-AC10-0F9A01E322AB}" type="datetimeFigureOut">
              <a:rPr lang="en-US" smtClean="0"/>
              <a:t>7/11/2024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614C347-1BB1-4972-89C6-2465AA6F87E5}" type="slidenum">
              <a:rPr lang="en-US" smtClean="0"/>
              <a:t>‹#›</a:t>
            </a:fld>
            <a:endParaRPr lang="en-US"/>
          </a:p>
        </p:txBody>
      </p:sp>
    </p:spTree>
    <p:extLst>
      <p:ext uri="{BB962C8B-B14F-4D97-AF65-F5344CB8AC3E}">
        <p14:creationId xmlns:p14="http://schemas.microsoft.com/office/powerpoint/2010/main" val="1472255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9B674E-F66C-4E70-AC10-0F9A01E322AB}" type="datetimeFigureOut">
              <a:rPr lang="en-US" smtClean="0"/>
              <a:t>7/11/2024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14C347-1BB1-4972-89C6-2465AA6F87E5}" type="slidenum">
              <a:rPr lang="en-US" smtClean="0"/>
              <a:t>‹#›</a:t>
            </a:fld>
            <a:endParaRPr lang="en-US"/>
          </a:p>
        </p:txBody>
      </p:sp>
    </p:spTree>
    <p:extLst>
      <p:ext uri="{BB962C8B-B14F-4D97-AF65-F5344CB8AC3E}">
        <p14:creationId xmlns:p14="http://schemas.microsoft.com/office/powerpoint/2010/main" val="203929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9B674E-F66C-4E70-AC10-0F9A01E322AB}" type="datetimeFigureOut">
              <a:rPr lang="en-US" smtClean="0"/>
              <a:t>7/11/2024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14C347-1BB1-4972-89C6-2465AA6F87E5}" type="slidenum">
              <a:rPr lang="en-US" smtClean="0"/>
              <a:t>‹#›</a:t>
            </a:fld>
            <a:endParaRPr lang="en-US"/>
          </a:p>
        </p:txBody>
      </p:sp>
    </p:spTree>
    <p:extLst>
      <p:ext uri="{BB962C8B-B14F-4D97-AF65-F5344CB8AC3E}">
        <p14:creationId xmlns:p14="http://schemas.microsoft.com/office/powerpoint/2010/main" val="2718021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3D9B674E-F66C-4E70-AC10-0F9A01E322AB}" type="datetimeFigureOut">
              <a:rPr lang="en-US" smtClean="0"/>
              <a:t>7/11/2024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614C347-1BB1-4972-89C6-2465AA6F87E5}" type="slidenum">
              <a:rPr lang="en-US" smtClean="0"/>
              <a:t>‹#›</a:t>
            </a:fld>
            <a:endParaRPr lang="en-US"/>
          </a:p>
        </p:txBody>
      </p:sp>
    </p:spTree>
    <p:extLst>
      <p:ext uri="{BB962C8B-B14F-4D97-AF65-F5344CB8AC3E}">
        <p14:creationId xmlns:p14="http://schemas.microsoft.com/office/powerpoint/2010/main" val="539357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9B674E-F66C-4E70-AC10-0F9A01E322AB}" type="datetimeFigureOut">
              <a:rPr lang="en-US" smtClean="0"/>
              <a:t>7/11/2024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14C347-1BB1-4972-89C6-2465AA6F87E5}" type="slidenum">
              <a:rPr lang="en-US" smtClean="0"/>
              <a:t>‹#›</a:t>
            </a:fld>
            <a:endParaRPr lang="en-US"/>
          </a:p>
        </p:txBody>
      </p:sp>
    </p:spTree>
    <p:extLst>
      <p:ext uri="{BB962C8B-B14F-4D97-AF65-F5344CB8AC3E}">
        <p14:creationId xmlns:p14="http://schemas.microsoft.com/office/powerpoint/2010/main" val="11993165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9B674E-F66C-4E70-AC10-0F9A01E322AB}" type="datetimeFigureOut">
              <a:rPr lang="en-US" smtClean="0"/>
              <a:t>7/11/2024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14C347-1BB1-4972-89C6-2465AA6F87E5}"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7200110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9B674E-F66C-4E70-AC10-0F9A01E322AB}" type="datetimeFigureOut">
              <a:rPr lang="en-US" smtClean="0"/>
              <a:t>7/11/2024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14C347-1BB1-4972-89C6-2465AA6F87E5}" type="slidenum">
              <a:rPr lang="en-US" smtClean="0"/>
              <a:t>‹#›</a:t>
            </a:fld>
            <a:endParaRPr lang="en-US"/>
          </a:p>
        </p:txBody>
      </p:sp>
    </p:spTree>
    <p:extLst>
      <p:ext uri="{BB962C8B-B14F-4D97-AF65-F5344CB8AC3E}">
        <p14:creationId xmlns:p14="http://schemas.microsoft.com/office/powerpoint/2010/main" val="19727598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9B674E-F66C-4E70-AC10-0F9A01E322AB}" type="datetimeFigureOut">
              <a:rPr lang="en-US" smtClean="0"/>
              <a:t>7/11/2024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14C347-1BB1-4972-89C6-2465AA6F87E5}"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4209311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9B674E-F66C-4E70-AC10-0F9A01E322AB}" type="datetimeFigureOut">
              <a:rPr lang="en-US" smtClean="0"/>
              <a:t>7/11/2024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14C347-1BB1-4972-89C6-2465AA6F87E5}" type="slidenum">
              <a:rPr lang="en-US" smtClean="0"/>
              <a:t>‹#›</a:t>
            </a:fld>
            <a:endParaRPr lang="en-US"/>
          </a:p>
        </p:txBody>
      </p:sp>
    </p:spTree>
    <p:extLst>
      <p:ext uri="{BB962C8B-B14F-4D97-AF65-F5344CB8AC3E}">
        <p14:creationId xmlns:p14="http://schemas.microsoft.com/office/powerpoint/2010/main" val="18599294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9B674E-F66C-4E70-AC10-0F9A01E322AB}" type="datetimeFigureOut">
              <a:rPr lang="en-US" smtClean="0"/>
              <a:t>7/11/2024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14C347-1BB1-4972-89C6-2465AA6F87E5}" type="slidenum">
              <a:rPr lang="en-US" smtClean="0"/>
              <a:t>‹#›</a:t>
            </a:fld>
            <a:endParaRPr lang="en-US"/>
          </a:p>
        </p:txBody>
      </p:sp>
    </p:spTree>
    <p:extLst>
      <p:ext uri="{BB962C8B-B14F-4D97-AF65-F5344CB8AC3E}">
        <p14:creationId xmlns:p14="http://schemas.microsoft.com/office/powerpoint/2010/main" val="22360886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9B674E-F66C-4E70-AC10-0F9A01E322AB}" type="datetimeFigureOut">
              <a:rPr lang="en-US" smtClean="0"/>
              <a:t>7/11/2024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14C347-1BB1-4972-89C6-2465AA6F87E5}" type="slidenum">
              <a:rPr lang="en-US" smtClean="0"/>
              <a:t>‹#›</a:t>
            </a:fld>
            <a:endParaRPr lang="en-US"/>
          </a:p>
        </p:txBody>
      </p:sp>
    </p:spTree>
    <p:extLst>
      <p:ext uri="{BB962C8B-B14F-4D97-AF65-F5344CB8AC3E}">
        <p14:creationId xmlns:p14="http://schemas.microsoft.com/office/powerpoint/2010/main" val="2869979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3D9B674E-F66C-4E70-AC10-0F9A01E322AB}" type="datetimeFigureOut">
              <a:rPr lang="en-US" smtClean="0"/>
              <a:t>7/11/2024</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E614C347-1BB1-4972-89C6-2465AA6F87E5}" type="slidenum">
              <a:rPr lang="en-US" smtClean="0"/>
              <a:t>‹#›</a:t>
            </a:fld>
            <a:endParaRPr lang="en-US"/>
          </a:p>
        </p:txBody>
      </p:sp>
    </p:spTree>
    <p:extLst>
      <p:ext uri="{BB962C8B-B14F-4D97-AF65-F5344CB8AC3E}">
        <p14:creationId xmlns:p14="http://schemas.microsoft.com/office/powerpoint/2010/main" val="1482805218"/>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 Id="rId6" Type="http://schemas.openxmlformats.org/officeDocument/2006/relationships/image" Target="../media/image15.jpg"/><Relationship Id="rId5" Type="http://schemas.openxmlformats.org/officeDocument/2006/relationships/image" Target="../media/image14.jpg"/><Relationship Id="rId4" Type="http://schemas.openxmlformats.org/officeDocument/2006/relationships/image" Target="../media/image13.jpg"/></Relationships>
</file>

<file path=ppt/slides/_rels/slide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 Id="rId5" Type="http://schemas.openxmlformats.org/officeDocument/2006/relationships/image" Target="../media/image19.jpg"/><Relationship Id="rId4" Type="http://schemas.openxmlformats.org/officeDocument/2006/relationships/image" Target="../media/image18.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BD81D-1848-33D9-C66D-A6D5604DDEE9}"/>
              </a:ext>
            </a:extLst>
          </p:cNvPr>
          <p:cNvSpPr>
            <a:spLocks noGrp="1"/>
          </p:cNvSpPr>
          <p:nvPr>
            <p:ph type="ctrTitle"/>
          </p:nvPr>
        </p:nvSpPr>
        <p:spPr>
          <a:xfrm>
            <a:off x="0" y="208723"/>
            <a:ext cx="12192000" cy="755373"/>
          </a:xfrm>
        </p:spPr>
        <p:txBody>
          <a:bodyPr>
            <a:normAutofit/>
          </a:bodyPr>
          <a:lstStyle/>
          <a:p>
            <a:pPr algn="ctr"/>
            <a:r>
              <a:rPr lang="en-US" sz="3200" dirty="0">
                <a:latin typeface="ADLaM Display" panose="02010000000000000000" pitchFamily="2" charset="0"/>
                <a:ea typeface="ADLaM Display" panose="02010000000000000000" pitchFamily="2" charset="0"/>
                <a:cs typeface="ADLaM Display" panose="02010000000000000000" pitchFamily="2" charset="0"/>
              </a:rPr>
              <a:t>Ninja Box App</a:t>
            </a:r>
          </a:p>
        </p:txBody>
      </p:sp>
      <p:pic>
        <p:nvPicPr>
          <p:cNvPr id="5" name="Picture 4">
            <a:extLst>
              <a:ext uri="{FF2B5EF4-FFF2-40B4-BE49-F238E27FC236}">
                <a16:creationId xmlns:a16="http://schemas.microsoft.com/office/drawing/2014/main" id="{BA123F6C-CDA0-32E2-783C-3C4FC5826F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538" y="1043609"/>
            <a:ext cx="2053621" cy="4403035"/>
          </a:xfrm>
          <a:prstGeom prst="rect">
            <a:avLst/>
          </a:prstGeom>
        </p:spPr>
      </p:pic>
      <p:pic>
        <p:nvPicPr>
          <p:cNvPr id="7" name="Picture 6">
            <a:extLst>
              <a:ext uri="{FF2B5EF4-FFF2-40B4-BE49-F238E27FC236}">
                <a16:creationId xmlns:a16="http://schemas.microsoft.com/office/drawing/2014/main" id="{593AE761-4948-6B03-A172-1FE27CE4A3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5739" y="1386508"/>
            <a:ext cx="2053622" cy="4403035"/>
          </a:xfrm>
          <a:prstGeom prst="rect">
            <a:avLst/>
          </a:prstGeom>
        </p:spPr>
      </p:pic>
      <p:pic>
        <p:nvPicPr>
          <p:cNvPr id="9" name="Picture 8">
            <a:extLst>
              <a:ext uri="{FF2B5EF4-FFF2-40B4-BE49-F238E27FC236}">
                <a16:creationId xmlns:a16="http://schemas.microsoft.com/office/drawing/2014/main" id="{BDDD07E8-306D-2A98-1292-BC27342C9A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64350" y="1818861"/>
            <a:ext cx="2181241" cy="4403035"/>
          </a:xfrm>
          <a:prstGeom prst="rect">
            <a:avLst/>
          </a:prstGeom>
        </p:spPr>
      </p:pic>
      <p:pic>
        <p:nvPicPr>
          <p:cNvPr id="11" name="Picture 10">
            <a:extLst>
              <a:ext uri="{FF2B5EF4-FFF2-40B4-BE49-F238E27FC236}">
                <a16:creationId xmlns:a16="http://schemas.microsoft.com/office/drawing/2014/main" id="{C8934A4B-038A-6F2B-A7F7-72B80F547B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10581" y="1391477"/>
            <a:ext cx="2181241" cy="4398066"/>
          </a:xfrm>
          <a:prstGeom prst="rect">
            <a:avLst/>
          </a:prstGeom>
        </p:spPr>
      </p:pic>
      <p:pic>
        <p:nvPicPr>
          <p:cNvPr id="13" name="Picture 12">
            <a:extLst>
              <a:ext uri="{FF2B5EF4-FFF2-40B4-BE49-F238E27FC236}">
                <a16:creationId xmlns:a16="http://schemas.microsoft.com/office/drawing/2014/main" id="{578C2623-89FA-D18C-4488-9E565852089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70221" y="1048578"/>
            <a:ext cx="2181241" cy="4398066"/>
          </a:xfrm>
          <a:prstGeom prst="rect">
            <a:avLst/>
          </a:prstGeom>
        </p:spPr>
      </p:pic>
      <p:sp>
        <p:nvSpPr>
          <p:cNvPr id="14" name="TextBox 13">
            <a:extLst>
              <a:ext uri="{FF2B5EF4-FFF2-40B4-BE49-F238E27FC236}">
                <a16:creationId xmlns:a16="http://schemas.microsoft.com/office/drawing/2014/main" id="{15466773-B3E0-C78A-5ADB-6B5274EEB698}"/>
              </a:ext>
            </a:extLst>
          </p:cNvPr>
          <p:cNvSpPr txBox="1"/>
          <p:nvPr/>
        </p:nvSpPr>
        <p:spPr>
          <a:xfrm>
            <a:off x="240538" y="5575565"/>
            <a:ext cx="1802063" cy="1169551"/>
          </a:xfrm>
          <a:prstGeom prst="rect">
            <a:avLst/>
          </a:prstGeom>
          <a:noFill/>
        </p:spPr>
        <p:txBody>
          <a:bodyPr wrap="square" rtlCol="0">
            <a:spAutoFit/>
          </a:bodyPr>
          <a:lstStyle/>
          <a:p>
            <a:pPr algn="ctr"/>
            <a:r>
              <a:rPr lang="en-US" sz="1400" dirty="0"/>
              <a:t>Splash Screen </a:t>
            </a:r>
          </a:p>
          <a:p>
            <a:pPr algn="ctr"/>
            <a:endParaRPr lang="en-US" sz="1400" dirty="0"/>
          </a:p>
          <a:p>
            <a:pPr algn="ctr"/>
            <a:endParaRPr lang="en-US" sz="1400" dirty="0"/>
          </a:p>
          <a:p>
            <a:pPr algn="ctr"/>
            <a:endParaRPr lang="en-US" sz="1400" dirty="0"/>
          </a:p>
          <a:p>
            <a:pPr algn="ctr"/>
            <a:endParaRPr lang="en-US" sz="1400" dirty="0"/>
          </a:p>
        </p:txBody>
      </p:sp>
      <p:sp>
        <p:nvSpPr>
          <p:cNvPr id="15" name="TextBox 14">
            <a:extLst>
              <a:ext uri="{FF2B5EF4-FFF2-40B4-BE49-F238E27FC236}">
                <a16:creationId xmlns:a16="http://schemas.microsoft.com/office/drawing/2014/main" id="{22EDC136-BDBA-AA90-3995-770E75754C65}"/>
              </a:ext>
            </a:extLst>
          </p:cNvPr>
          <p:cNvSpPr txBox="1"/>
          <p:nvPr/>
        </p:nvSpPr>
        <p:spPr>
          <a:xfrm>
            <a:off x="2307590" y="5918751"/>
            <a:ext cx="2456745" cy="1107996"/>
          </a:xfrm>
          <a:prstGeom prst="rect">
            <a:avLst/>
          </a:prstGeom>
          <a:noFill/>
        </p:spPr>
        <p:txBody>
          <a:bodyPr wrap="square" rtlCol="0">
            <a:spAutoFit/>
          </a:bodyPr>
          <a:lstStyle/>
          <a:p>
            <a:r>
              <a:rPr lang="en-US" altLang="zh-CN" sz="1200" kern="1400" spc="100" dirty="0">
                <a:latin typeface="字魂5号-无外润黑体" panose="00000500000000000000" pitchFamily="2" charset="-122"/>
                <a:ea typeface="字魂5号-无外润黑体" panose="00000500000000000000" pitchFamily="2" charset="-122"/>
                <a:sym typeface="思源黑体 CN Normal" panose="020B0400000000000000" pitchFamily="34" charset="-122"/>
              </a:rPr>
              <a:t>On this page, you can choose your account type: normal guard or manager (admin).</a:t>
            </a:r>
          </a:p>
          <a:p>
            <a:endParaRPr lang="en-US" dirty="0"/>
          </a:p>
        </p:txBody>
      </p:sp>
      <p:sp>
        <p:nvSpPr>
          <p:cNvPr id="16" name="TextBox 15">
            <a:extLst>
              <a:ext uri="{FF2B5EF4-FFF2-40B4-BE49-F238E27FC236}">
                <a16:creationId xmlns:a16="http://schemas.microsoft.com/office/drawing/2014/main" id="{DA8E6EFE-902A-13D3-487B-756E682B00D2}"/>
              </a:ext>
            </a:extLst>
          </p:cNvPr>
          <p:cNvSpPr txBox="1"/>
          <p:nvPr/>
        </p:nvSpPr>
        <p:spPr>
          <a:xfrm>
            <a:off x="5029324" y="6283451"/>
            <a:ext cx="1825863" cy="461665"/>
          </a:xfrm>
          <a:prstGeom prst="rect">
            <a:avLst/>
          </a:prstGeom>
          <a:noFill/>
        </p:spPr>
        <p:txBody>
          <a:bodyPr wrap="square" rtlCol="0">
            <a:spAutoFit/>
          </a:bodyPr>
          <a:lstStyle/>
          <a:p>
            <a:r>
              <a:rPr lang="en-US" sz="1200" dirty="0"/>
              <a:t>On this page, guard can login.</a:t>
            </a:r>
          </a:p>
        </p:txBody>
      </p:sp>
      <p:sp>
        <p:nvSpPr>
          <p:cNvPr id="17" name="TextBox 16">
            <a:extLst>
              <a:ext uri="{FF2B5EF4-FFF2-40B4-BE49-F238E27FC236}">
                <a16:creationId xmlns:a16="http://schemas.microsoft.com/office/drawing/2014/main" id="{7334E541-4B55-3E2D-8806-E8E6177E7D2B}"/>
              </a:ext>
            </a:extLst>
          </p:cNvPr>
          <p:cNvSpPr txBox="1"/>
          <p:nvPr/>
        </p:nvSpPr>
        <p:spPr>
          <a:xfrm>
            <a:off x="7205193" y="5918751"/>
            <a:ext cx="2456745" cy="646331"/>
          </a:xfrm>
          <a:prstGeom prst="rect">
            <a:avLst/>
          </a:prstGeom>
          <a:noFill/>
        </p:spPr>
        <p:txBody>
          <a:bodyPr wrap="square" rtlCol="0">
            <a:spAutoFit/>
          </a:bodyPr>
          <a:lstStyle/>
          <a:p>
            <a:r>
              <a:rPr lang="en-US" sz="1200" dirty="0"/>
              <a:t>Here guard login successfully, he can </a:t>
            </a:r>
          </a:p>
          <a:p>
            <a:r>
              <a:rPr lang="en-US" sz="1200" dirty="0"/>
              <a:t>Observing state of safe box.</a:t>
            </a:r>
          </a:p>
        </p:txBody>
      </p:sp>
      <p:sp>
        <p:nvSpPr>
          <p:cNvPr id="18" name="TextBox 17">
            <a:extLst>
              <a:ext uri="{FF2B5EF4-FFF2-40B4-BE49-F238E27FC236}">
                <a16:creationId xmlns:a16="http://schemas.microsoft.com/office/drawing/2014/main" id="{D47FD4D6-D0AE-84EF-4DD1-6E3434DBE04C}"/>
              </a:ext>
            </a:extLst>
          </p:cNvPr>
          <p:cNvSpPr txBox="1"/>
          <p:nvPr/>
        </p:nvSpPr>
        <p:spPr>
          <a:xfrm>
            <a:off x="9711743" y="5633614"/>
            <a:ext cx="2239719" cy="1015663"/>
          </a:xfrm>
          <a:prstGeom prst="rect">
            <a:avLst/>
          </a:prstGeom>
          <a:noFill/>
        </p:spPr>
        <p:txBody>
          <a:bodyPr wrap="square" rtlCol="0">
            <a:spAutoFit/>
          </a:bodyPr>
          <a:lstStyle/>
          <a:p>
            <a:r>
              <a:rPr lang="en-US" sz="1200" dirty="0"/>
              <a:t>Here admin or owner of the box can sign up to create account and he should prepare a serial number of his box to sign up by it. </a:t>
            </a:r>
          </a:p>
        </p:txBody>
      </p:sp>
    </p:spTree>
    <p:extLst>
      <p:ext uri="{BB962C8B-B14F-4D97-AF65-F5344CB8AC3E}">
        <p14:creationId xmlns:p14="http://schemas.microsoft.com/office/powerpoint/2010/main" val="1567003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CA3154B-A456-96AC-EE18-5D32D64A4C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382" y="375110"/>
            <a:ext cx="2116207" cy="4365855"/>
          </a:xfrm>
          <a:prstGeom prst="rect">
            <a:avLst/>
          </a:prstGeom>
        </p:spPr>
      </p:pic>
      <p:pic>
        <p:nvPicPr>
          <p:cNvPr id="9" name="Picture 8">
            <a:extLst>
              <a:ext uri="{FF2B5EF4-FFF2-40B4-BE49-F238E27FC236}">
                <a16:creationId xmlns:a16="http://schemas.microsoft.com/office/drawing/2014/main" id="{42148FF9-F14B-625F-F9D4-23CF3A1E2B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2139" y="603710"/>
            <a:ext cx="2116207" cy="4365855"/>
          </a:xfrm>
          <a:prstGeom prst="rect">
            <a:avLst/>
          </a:prstGeom>
        </p:spPr>
      </p:pic>
      <p:pic>
        <p:nvPicPr>
          <p:cNvPr id="11" name="Picture 10">
            <a:extLst>
              <a:ext uri="{FF2B5EF4-FFF2-40B4-BE49-F238E27FC236}">
                <a16:creationId xmlns:a16="http://schemas.microsoft.com/office/drawing/2014/main" id="{35712427-C2A2-B65F-D562-DE14C337D2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37896" y="891944"/>
            <a:ext cx="2116207" cy="4365855"/>
          </a:xfrm>
          <a:prstGeom prst="rect">
            <a:avLst/>
          </a:prstGeom>
        </p:spPr>
      </p:pic>
      <p:pic>
        <p:nvPicPr>
          <p:cNvPr id="13" name="Picture 12">
            <a:extLst>
              <a:ext uri="{FF2B5EF4-FFF2-40B4-BE49-F238E27FC236}">
                <a16:creationId xmlns:a16="http://schemas.microsoft.com/office/drawing/2014/main" id="{785F4D31-FE4D-ADFE-7992-4A2D528AE3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63653" y="603710"/>
            <a:ext cx="2116207" cy="4365855"/>
          </a:xfrm>
          <a:prstGeom prst="rect">
            <a:avLst/>
          </a:prstGeom>
        </p:spPr>
      </p:pic>
      <p:pic>
        <p:nvPicPr>
          <p:cNvPr id="15" name="Picture 14">
            <a:extLst>
              <a:ext uri="{FF2B5EF4-FFF2-40B4-BE49-F238E27FC236}">
                <a16:creationId xmlns:a16="http://schemas.microsoft.com/office/drawing/2014/main" id="{23C72318-7BE4-E415-417C-B0311B61C1A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89411" y="375110"/>
            <a:ext cx="2116207" cy="4365855"/>
          </a:xfrm>
          <a:prstGeom prst="rect">
            <a:avLst/>
          </a:prstGeom>
        </p:spPr>
      </p:pic>
      <p:sp>
        <p:nvSpPr>
          <p:cNvPr id="16" name="TextBox 15">
            <a:extLst>
              <a:ext uri="{FF2B5EF4-FFF2-40B4-BE49-F238E27FC236}">
                <a16:creationId xmlns:a16="http://schemas.microsoft.com/office/drawing/2014/main" id="{5144F806-B0E5-634F-ED35-E13D18884613}"/>
              </a:ext>
            </a:extLst>
          </p:cNvPr>
          <p:cNvSpPr txBox="1"/>
          <p:nvPr/>
        </p:nvSpPr>
        <p:spPr>
          <a:xfrm>
            <a:off x="386382" y="4913230"/>
            <a:ext cx="2116206" cy="1754326"/>
          </a:xfrm>
          <a:prstGeom prst="rect">
            <a:avLst/>
          </a:prstGeom>
          <a:noFill/>
        </p:spPr>
        <p:txBody>
          <a:bodyPr wrap="square" rtlCol="0">
            <a:spAutoFit/>
          </a:bodyPr>
          <a:lstStyle/>
          <a:p>
            <a:r>
              <a:rPr lang="en-US" altLang="zh-CN" sz="1200" kern="1400" spc="100" dirty="0">
                <a:latin typeface="字魂5号-无外润黑体" panose="00000500000000000000" pitchFamily="2" charset="-122"/>
                <a:ea typeface="字魂5号-无外润黑体" panose="00000500000000000000" pitchFamily="2" charset="-122"/>
                <a:sym typeface="思源黑体 CN Normal" panose="020B0400000000000000" pitchFamily="34" charset="-122"/>
              </a:rPr>
              <a:t>On this page, after you created an account, you can login as admin or owner, and if you forgot your password, </a:t>
            </a:r>
            <a:r>
              <a:rPr lang="en-US" altLang="zh-CN" sz="1200" kern="1400" spc="100" dirty="0" err="1">
                <a:latin typeface="字魂5号-无外润黑体" panose="00000500000000000000" pitchFamily="2" charset="-122"/>
                <a:ea typeface="字魂5号-无外润黑体" panose="00000500000000000000" pitchFamily="2" charset="-122"/>
                <a:sym typeface="思源黑体 CN Normal" panose="020B0400000000000000" pitchFamily="34" charset="-122"/>
              </a:rPr>
              <a:t>dont</a:t>
            </a:r>
            <a:r>
              <a:rPr lang="en-US" altLang="zh-CN" sz="1200" kern="1400" spc="100" dirty="0">
                <a:latin typeface="字魂5号-无外润黑体" panose="00000500000000000000" pitchFamily="2" charset="-122"/>
                <a:ea typeface="字魂5号-无外润黑体" panose="00000500000000000000" pitchFamily="2" charset="-122"/>
                <a:sym typeface="思源黑体 CN Normal" panose="020B0400000000000000" pitchFamily="34" charset="-122"/>
              </a:rPr>
              <a:t> worry, we add a features enable you to change your password.</a:t>
            </a:r>
            <a:endParaRPr lang="en-US" sz="1200" dirty="0"/>
          </a:p>
        </p:txBody>
      </p:sp>
      <p:sp>
        <p:nvSpPr>
          <p:cNvPr id="17" name="TextBox 16">
            <a:extLst>
              <a:ext uri="{FF2B5EF4-FFF2-40B4-BE49-F238E27FC236}">
                <a16:creationId xmlns:a16="http://schemas.microsoft.com/office/drawing/2014/main" id="{63DC8669-4FB6-735A-6874-DFAC8595F8A3}"/>
              </a:ext>
            </a:extLst>
          </p:cNvPr>
          <p:cNvSpPr txBox="1"/>
          <p:nvPr/>
        </p:nvSpPr>
        <p:spPr>
          <a:xfrm>
            <a:off x="2782956" y="5078895"/>
            <a:ext cx="1800493" cy="830997"/>
          </a:xfrm>
          <a:prstGeom prst="rect">
            <a:avLst/>
          </a:prstGeom>
          <a:noFill/>
        </p:spPr>
        <p:txBody>
          <a:bodyPr wrap="none" rtlCol="0">
            <a:spAutoFit/>
          </a:bodyPr>
          <a:lstStyle/>
          <a:p>
            <a:r>
              <a:rPr lang="en-US" sz="1200" dirty="0"/>
              <a:t>Here the admin can </a:t>
            </a:r>
          </a:p>
          <a:p>
            <a:r>
              <a:rPr lang="en-US" sz="1200" dirty="0"/>
              <a:t>Monitor the state of </a:t>
            </a:r>
          </a:p>
          <a:p>
            <a:r>
              <a:rPr lang="en-US" sz="1200" dirty="0"/>
              <a:t>a box as shown in the</a:t>
            </a:r>
          </a:p>
          <a:p>
            <a:r>
              <a:rPr lang="en-US" sz="1200" dirty="0"/>
              <a:t>Picture.</a:t>
            </a:r>
          </a:p>
        </p:txBody>
      </p:sp>
      <p:sp>
        <p:nvSpPr>
          <p:cNvPr id="22" name="TextBox 21">
            <a:extLst>
              <a:ext uri="{FF2B5EF4-FFF2-40B4-BE49-F238E27FC236}">
                <a16:creationId xmlns:a16="http://schemas.microsoft.com/office/drawing/2014/main" id="{5314A7C1-D861-BAA3-AE6C-414C41433F0F}"/>
              </a:ext>
            </a:extLst>
          </p:cNvPr>
          <p:cNvSpPr txBox="1"/>
          <p:nvPr/>
        </p:nvSpPr>
        <p:spPr>
          <a:xfrm>
            <a:off x="4870721" y="5309727"/>
            <a:ext cx="2450555" cy="1569660"/>
          </a:xfrm>
          <a:prstGeom prst="rect">
            <a:avLst/>
          </a:prstGeom>
          <a:noFill/>
        </p:spPr>
        <p:txBody>
          <a:bodyPr wrap="square" rtlCol="0">
            <a:spAutoFit/>
          </a:bodyPr>
          <a:lstStyle/>
          <a:p>
            <a:r>
              <a:rPr lang="en-US" sz="1200" dirty="0"/>
              <a:t>On this page, I built a</a:t>
            </a:r>
          </a:p>
          <a:p>
            <a:r>
              <a:rPr lang="en-US" sz="1200" dirty="0"/>
              <a:t>Drawer that contains</a:t>
            </a:r>
          </a:p>
          <a:p>
            <a:r>
              <a:rPr lang="en-US" sz="1200" dirty="0"/>
              <a:t>a profile image and name for owner</a:t>
            </a:r>
          </a:p>
          <a:p>
            <a:r>
              <a:rPr lang="en-US" sz="1200" dirty="0"/>
              <a:t>And he can change them.</a:t>
            </a:r>
          </a:p>
          <a:p>
            <a:r>
              <a:rPr lang="en-US" sz="1200" dirty="0"/>
              <a:t>Also can navigate to many </a:t>
            </a:r>
          </a:p>
          <a:p>
            <a:r>
              <a:rPr lang="en-US" sz="1200" dirty="0"/>
              <a:t>Pages as shown in the picture.</a:t>
            </a:r>
          </a:p>
          <a:p>
            <a:endParaRPr lang="en-US" sz="1200" dirty="0"/>
          </a:p>
        </p:txBody>
      </p:sp>
      <p:sp>
        <p:nvSpPr>
          <p:cNvPr id="23" name="TextBox 22">
            <a:extLst>
              <a:ext uri="{FF2B5EF4-FFF2-40B4-BE49-F238E27FC236}">
                <a16:creationId xmlns:a16="http://schemas.microsoft.com/office/drawing/2014/main" id="{6A9F5014-7D11-F843-1887-ABCC14443186}"/>
              </a:ext>
            </a:extLst>
          </p:cNvPr>
          <p:cNvSpPr txBox="1"/>
          <p:nvPr/>
        </p:nvSpPr>
        <p:spPr>
          <a:xfrm>
            <a:off x="7321276" y="5097895"/>
            <a:ext cx="2187851" cy="1384995"/>
          </a:xfrm>
          <a:prstGeom prst="rect">
            <a:avLst/>
          </a:prstGeom>
          <a:noFill/>
        </p:spPr>
        <p:txBody>
          <a:bodyPr wrap="square" rtlCol="0">
            <a:spAutoFit/>
          </a:bodyPr>
          <a:lstStyle/>
          <a:p>
            <a:r>
              <a:rPr lang="en-US" altLang="zh-CN" sz="1200" kern="1400" spc="100" dirty="0">
                <a:latin typeface="字魂5号-无外润黑体" panose="00000500000000000000" pitchFamily="2" charset="-122"/>
                <a:ea typeface="字魂5号-无外润黑体" panose="00000500000000000000" pitchFamily="2" charset="-122"/>
                <a:sym typeface="思源黑体 CN Normal" panose="020B0400000000000000" pitchFamily="34" charset="-122"/>
              </a:rPr>
              <a:t>On this page, the owner receive a verification code from </a:t>
            </a:r>
          </a:p>
          <a:p>
            <a:r>
              <a:rPr lang="en-US" sz="1200" kern="1400" spc="100" dirty="0">
                <a:ea typeface="字魂5号-无外润黑体" panose="00000500000000000000" pitchFamily="2" charset="-122"/>
                <a:sym typeface="思源黑体 CN Normal" panose="020B0400000000000000" pitchFamily="34" charset="-122"/>
              </a:rPr>
              <a:t>Firebase and this code</a:t>
            </a:r>
          </a:p>
          <a:p>
            <a:r>
              <a:rPr lang="en-US" sz="1200" kern="1400" spc="100" dirty="0">
                <a:ea typeface="字魂5号-无外润黑体" panose="00000500000000000000" pitchFamily="2" charset="-122"/>
                <a:sym typeface="思源黑体 CN Normal" panose="020B0400000000000000" pitchFamily="34" charset="-122"/>
              </a:rPr>
              <a:t>Upload from Keypads that exist in box to </a:t>
            </a:r>
            <a:r>
              <a:rPr lang="en-US" sz="1200" kern="1400" spc="100" dirty="0" err="1">
                <a:ea typeface="字魂5号-无外润黑体" panose="00000500000000000000" pitchFamily="2" charset="-122"/>
                <a:sym typeface="思源黑体 CN Normal" panose="020B0400000000000000" pitchFamily="34" charset="-122"/>
              </a:rPr>
              <a:t>realtime</a:t>
            </a:r>
            <a:r>
              <a:rPr lang="en-US" sz="1200" kern="1400" spc="100" dirty="0">
                <a:ea typeface="字魂5号-无外润黑体" panose="00000500000000000000" pitchFamily="2" charset="-122"/>
                <a:sym typeface="思源黑体 CN Normal" panose="020B0400000000000000" pitchFamily="34" charset="-122"/>
              </a:rPr>
              <a:t> database.</a:t>
            </a:r>
            <a:endParaRPr lang="en-US" sz="1200" dirty="0"/>
          </a:p>
        </p:txBody>
      </p:sp>
      <p:sp>
        <p:nvSpPr>
          <p:cNvPr id="24" name="TextBox 23">
            <a:extLst>
              <a:ext uri="{FF2B5EF4-FFF2-40B4-BE49-F238E27FC236}">
                <a16:creationId xmlns:a16="http://schemas.microsoft.com/office/drawing/2014/main" id="{4760C12D-63DD-B5F3-1FA2-A75E529162E4}"/>
              </a:ext>
            </a:extLst>
          </p:cNvPr>
          <p:cNvSpPr txBox="1"/>
          <p:nvPr/>
        </p:nvSpPr>
        <p:spPr>
          <a:xfrm>
            <a:off x="9689409" y="4969566"/>
            <a:ext cx="2450555" cy="2677656"/>
          </a:xfrm>
          <a:prstGeom prst="rect">
            <a:avLst/>
          </a:prstGeom>
          <a:noFill/>
        </p:spPr>
        <p:txBody>
          <a:bodyPr wrap="square" rtlCol="0">
            <a:spAutoFit/>
          </a:bodyPr>
          <a:lstStyle/>
          <a:p>
            <a:r>
              <a:rPr lang="en-US" altLang="zh-CN" sz="1200" kern="1400" spc="100" dirty="0">
                <a:latin typeface="字魂5号-无外润黑体" panose="00000500000000000000" pitchFamily="2" charset="-122"/>
                <a:ea typeface="字魂5号-无外润黑体" panose="00000500000000000000" pitchFamily="2" charset="-122"/>
                <a:sym typeface="思源黑体 CN Normal" panose="020B0400000000000000" pitchFamily="34" charset="-122"/>
              </a:rPr>
              <a:t>On this page, we have many options and pages to manage, such as changing the account password, changing the box password, adding a guard, and changing the box's Wi-Fi connection.</a:t>
            </a:r>
          </a:p>
          <a:p>
            <a:endParaRPr lang="en-US" sz="1200" dirty="0"/>
          </a:p>
          <a:p>
            <a:endParaRPr lang="en-US" sz="1200" dirty="0"/>
          </a:p>
          <a:p>
            <a:endParaRPr lang="en-US" sz="1200" dirty="0"/>
          </a:p>
          <a:p>
            <a:endParaRPr lang="en-US" sz="1200" dirty="0"/>
          </a:p>
          <a:p>
            <a:endParaRPr lang="en-US" sz="1200" dirty="0"/>
          </a:p>
          <a:p>
            <a:endParaRPr lang="en-US" sz="1200" dirty="0"/>
          </a:p>
        </p:txBody>
      </p:sp>
    </p:spTree>
    <p:extLst>
      <p:ext uri="{BB962C8B-B14F-4D97-AF65-F5344CB8AC3E}">
        <p14:creationId xmlns:p14="http://schemas.microsoft.com/office/powerpoint/2010/main" val="2951389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9504188-9ACA-B80B-A161-DFF8DB5E56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909" y="253449"/>
            <a:ext cx="2106269" cy="4477578"/>
          </a:xfrm>
          <a:prstGeom prst="rect">
            <a:avLst/>
          </a:prstGeom>
        </p:spPr>
      </p:pic>
      <p:pic>
        <p:nvPicPr>
          <p:cNvPr id="7" name="Picture 6">
            <a:extLst>
              <a:ext uri="{FF2B5EF4-FFF2-40B4-BE49-F238E27FC236}">
                <a16:creationId xmlns:a16="http://schemas.microsoft.com/office/drawing/2014/main" id="{EFE263CC-4642-674E-F244-7E6785B761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6233" y="740465"/>
            <a:ext cx="2106269" cy="4477578"/>
          </a:xfrm>
          <a:prstGeom prst="rect">
            <a:avLst/>
          </a:prstGeom>
        </p:spPr>
      </p:pic>
      <p:pic>
        <p:nvPicPr>
          <p:cNvPr id="9" name="Picture 8">
            <a:extLst>
              <a:ext uri="{FF2B5EF4-FFF2-40B4-BE49-F238E27FC236}">
                <a16:creationId xmlns:a16="http://schemas.microsoft.com/office/drawing/2014/main" id="{DEFBCF3A-727E-06DA-FA5D-525FC9F684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98557" y="1190211"/>
            <a:ext cx="2106269" cy="4477578"/>
          </a:xfrm>
          <a:prstGeom prst="rect">
            <a:avLst/>
          </a:prstGeom>
        </p:spPr>
      </p:pic>
      <p:pic>
        <p:nvPicPr>
          <p:cNvPr id="11" name="Picture 10">
            <a:extLst>
              <a:ext uri="{FF2B5EF4-FFF2-40B4-BE49-F238E27FC236}">
                <a16:creationId xmlns:a16="http://schemas.microsoft.com/office/drawing/2014/main" id="{0450CC3F-04FB-202E-7365-C24CEBF5BBD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71821" y="253449"/>
            <a:ext cx="2106270" cy="4477578"/>
          </a:xfrm>
          <a:prstGeom prst="rect">
            <a:avLst/>
          </a:prstGeom>
        </p:spPr>
      </p:pic>
      <p:pic>
        <p:nvPicPr>
          <p:cNvPr id="16" name="Picture 15">
            <a:extLst>
              <a:ext uri="{FF2B5EF4-FFF2-40B4-BE49-F238E27FC236}">
                <a16:creationId xmlns:a16="http://schemas.microsoft.com/office/drawing/2014/main" id="{235A292F-3663-9B3E-508D-E377018C8CA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85189" y="740465"/>
            <a:ext cx="2106269" cy="4477578"/>
          </a:xfrm>
          <a:prstGeom prst="rect">
            <a:avLst/>
          </a:prstGeom>
        </p:spPr>
      </p:pic>
      <p:sp>
        <p:nvSpPr>
          <p:cNvPr id="17" name="TextBox 16">
            <a:extLst>
              <a:ext uri="{FF2B5EF4-FFF2-40B4-BE49-F238E27FC236}">
                <a16:creationId xmlns:a16="http://schemas.microsoft.com/office/drawing/2014/main" id="{0CE854AA-9D32-CECC-DA7E-829BF76B262C}"/>
              </a:ext>
            </a:extLst>
          </p:cNvPr>
          <p:cNvSpPr txBox="1"/>
          <p:nvPr/>
        </p:nvSpPr>
        <p:spPr>
          <a:xfrm>
            <a:off x="2549387" y="5323809"/>
            <a:ext cx="2213115" cy="892552"/>
          </a:xfrm>
          <a:prstGeom prst="rect">
            <a:avLst/>
          </a:prstGeom>
          <a:noFill/>
        </p:spPr>
        <p:txBody>
          <a:bodyPr wrap="square" rtlCol="0">
            <a:spAutoFit/>
          </a:bodyPr>
          <a:lstStyle/>
          <a:p>
            <a:r>
              <a:rPr lang="en-US" altLang="zh-CN" sz="1300" kern="1400" spc="100" dirty="0">
                <a:latin typeface="字魂5号-无外润黑体" panose="00000500000000000000" pitchFamily="2" charset="-122"/>
                <a:ea typeface="字魂5号-无外润黑体" panose="00000500000000000000" pitchFamily="2" charset="-122"/>
                <a:sym typeface="思源黑体 CN Normal" panose="020B0400000000000000" pitchFamily="34" charset="-122"/>
              </a:rPr>
              <a:t>On this page, you can change the box main password if you have the permission</a:t>
            </a:r>
            <a:endParaRPr lang="en-US" sz="1300" dirty="0"/>
          </a:p>
        </p:txBody>
      </p:sp>
      <p:sp>
        <p:nvSpPr>
          <p:cNvPr id="19" name="TextBox 18">
            <a:extLst>
              <a:ext uri="{FF2B5EF4-FFF2-40B4-BE49-F238E27FC236}">
                <a16:creationId xmlns:a16="http://schemas.microsoft.com/office/drawing/2014/main" id="{F3604041-51FA-EB64-6B33-80E39EEBAC42}"/>
              </a:ext>
            </a:extLst>
          </p:cNvPr>
          <p:cNvSpPr txBox="1"/>
          <p:nvPr/>
        </p:nvSpPr>
        <p:spPr>
          <a:xfrm>
            <a:off x="228185" y="4871794"/>
            <a:ext cx="2213116" cy="692497"/>
          </a:xfrm>
          <a:prstGeom prst="rect">
            <a:avLst/>
          </a:prstGeom>
          <a:noFill/>
        </p:spPr>
        <p:txBody>
          <a:bodyPr wrap="square">
            <a:spAutoFit/>
          </a:bodyPr>
          <a:lstStyle/>
          <a:p>
            <a:r>
              <a:rPr lang="en-US" altLang="zh-CN" sz="1300" kern="1400" spc="100" dirty="0">
                <a:latin typeface="字魂5号-无外润黑体" panose="00000500000000000000" pitchFamily="2" charset="-122"/>
                <a:ea typeface="字魂5号-无外润黑体" panose="00000500000000000000" pitchFamily="2" charset="-122"/>
                <a:sym typeface="思源黑体 CN Normal" panose="020B0400000000000000" pitchFamily="34" charset="-122"/>
              </a:rPr>
              <a:t>On this page, you can change an account password of owner.</a:t>
            </a:r>
            <a:endParaRPr lang="en-US" sz="1300" dirty="0"/>
          </a:p>
        </p:txBody>
      </p:sp>
      <p:sp>
        <p:nvSpPr>
          <p:cNvPr id="21" name="TextBox 20">
            <a:extLst>
              <a:ext uri="{FF2B5EF4-FFF2-40B4-BE49-F238E27FC236}">
                <a16:creationId xmlns:a16="http://schemas.microsoft.com/office/drawing/2014/main" id="{B45309B4-6128-75DA-5DDD-2E29DFF4866D}"/>
              </a:ext>
            </a:extLst>
          </p:cNvPr>
          <p:cNvSpPr txBox="1"/>
          <p:nvPr/>
        </p:nvSpPr>
        <p:spPr>
          <a:xfrm>
            <a:off x="4870588" y="5870112"/>
            <a:ext cx="4620870" cy="692497"/>
          </a:xfrm>
          <a:prstGeom prst="rect">
            <a:avLst/>
          </a:prstGeom>
          <a:noFill/>
        </p:spPr>
        <p:txBody>
          <a:bodyPr wrap="square">
            <a:spAutoFit/>
          </a:bodyPr>
          <a:lstStyle/>
          <a:p>
            <a:r>
              <a:rPr lang="en-US" altLang="zh-CN" sz="1300" kern="1400" spc="100" dirty="0">
                <a:latin typeface="字魂5号-无外润黑体" panose="00000500000000000000" pitchFamily="2" charset="-122"/>
                <a:ea typeface="字魂5号-无外润黑体" panose="00000500000000000000" pitchFamily="2" charset="-122"/>
                <a:sym typeface="思源黑体 CN Normal" panose="020B0400000000000000" pitchFamily="34" charset="-122"/>
              </a:rPr>
              <a:t>On those two pages, as admin you can </a:t>
            </a:r>
            <a:r>
              <a:rPr lang="en-US" sz="1300" kern="1400" spc="100" dirty="0">
                <a:ea typeface="字魂5号-无外润黑体" panose="00000500000000000000" pitchFamily="2" charset="-122"/>
                <a:sym typeface="思源黑体 CN Normal" panose="020B0400000000000000" pitchFamily="34" charset="-122"/>
              </a:rPr>
              <a:t>Show all guards email and password, and you can create account for guard.</a:t>
            </a:r>
            <a:endParaRPr lang="en-US" sz="1300" dirty="0"/>
          </a:p>
        </p:txBody>
      </p:sp>
      <p:sp>
        <p:nvSpPr>
          <p:cNvPr id="22" name="TextBox 21">
            <a:extLst>
              <a:ext uri="{FF2B5EF4-FFF2-40B4-BE49-F238E27FC236}">
                <a16:creationId xmlns:a16="http://schemas.microsoft.com/office/drawing/2014/main" id="{EBA33A9E-8DEE-F68F-685E-040C747B01EE}"/>
              </a:ext>
            </a:extLst>
          </p:cNvPr>
          <p:cNvSpPr txBox="1"/>
          <p:nvPr/>
        </p:nvSpPr>
        <p:spPr>
          <a:xfrm>
            <a:off x="9727514" y="5108713"/>
            <a:ext cx="2236301" cy="1092607"/>
          </a:xfrm>
          <a:prstGeom prst="rect">
            <a:avLst/>
          </a:prstGeom>
          <a:noFill/>
        </p:spPr>
        <p:txBody>
          <a:bodyPr wrap="square" rtlCol="0">
            <a:spAutoFit/>
          </a:bodyPr>
          <a:lstStyle/>
          <a:p>
            <a:r>
              <a:rPr lang="en-US" sz="1300" dirty="0"/>
              <a:t>On this page, admin </a:t>
            </a:r>
          </a:p>
          <a:p>
            <a:r>
              <a:rPr lang="en-US" sz="1300" dirty="0"/>
              <a:t>Can change </a:t>
            </a:r>
            <a:r>
              <a:rPr lang="en-US" sz="1300" dirty="0" err="1"/>
              <a:t>WiFi</a:t>
            </a:r>
            <a:r>
              <a:rPr lang="en-US" sz="1300" dirty="0"/>
              <a:t> name</a:t>
            </a:r>
          </a:p>
          <a:p>
            <a:r>
              <a:rPr lang="en-US" sz="1300" dirty="0"/>
              <a:t>And password ,then </a:t>
            </a:r>
          </a:p>
          <a:p>
            <a:r>
              <a:rPr lang="en-US" sz="1300" dirty="0"/>
              <a:t>This update listen in </a:t>
            </a:r>
          </a:p>
          <a:p>
            <a:r>
              <a:rPr lang="en-US" sz="1300" dirty="0"/>
              <a:t>firebase.</a:t>
            </a:r>
          </a:p>
        </p:txBody>
      </p:sp>
    </p:spTree>
    <p:extLst>
      <p:ext uri="{BB962C8B-B14F-4D97-AF65-F5344CB8AC3E}">
        <p14:creationId xmlns:p14="http://schemas.microsoft.com/office/powerpoint/2010/main" val="2834057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F566C4-7818-685A-806B-D274421680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8553" y="457200"/>
            <a:ext cx="2368621" cy="4259612"/>
          </a:xfrm>
          <a:prstGeom prst="rect">
            <a:avLst/>
          </a:prstGeom>
        </p:spPr>
      </p:pic>
      <p:pic>
        <p:nvPicPr>
          <p:cNvPr id="7" name="Picture 6">
            <a:extLst>
              <a:ext uri="{FF2B5EF4-FFF2-40B4-BE49-F238E27FC236}">
                <a16:creationId xmlns:a16="http://schemas.microsoft.com/office/drawing/2014/main" id="{C8238D2A-4EAA-132C-BA53-EA432259E4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61891" y="757857"/>
            <a:ext cx="2368621" cy="4173269"/>
          </a:xfrm>
          <a:prstGeom prst="rect">
            <a:avLst/>
          </a:prstGeom>
        </p:spPr>
      </p:pic>
      <p:pic>
        <p:nvPicPr>
          <p:cNvPr id="9" name="Picture 8">
            <a:extLst>
              <a:ext uri="{FF2B5EF4-FFF2-40B4-BE49-F238E27FC236}">
                <a16:creationId xmlns:a16="http://schemas.microsoft.com/office/drawing/2014/main" id="{16830C4C-1FDE-78D4-F2A4-E18DECD108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95195" y="1056031"/>
            <a:ext cx="2316229" cy="4173269"/>
          </a:xfrm>
          <a:prstGeom prst="rect">
            <a:avLst/>
          </a:prstGeom>
        </p:spPr>
      </p:pic>
      <p:pic>
        <p:nvPicPr>
          <p:cNvPr id="14" name="Picture 13">
            <a:extLst>
              <a:ext uri="{FF2B5EF4-FFF2-40B4-BE49-F238E27FC236}">
                <a16:creationId xmlns:a16="http://schemas.microsoft.com/office/drawing/2014/main" id="{CD72058B-DE16-75D6-CCCF-71CACC9A0B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5249" y="237857"/>
            <a:ext cx="2368621" cy="4468466"/>
          </a:xfrm>
          <a:prstGeom prst="rect">
            <a:avLst/>
          </a:prstGeom>
        </p:spPr>
      </p:pic>
      <p:sp>
        <p:nvSpPr>
          <p:cNvPr id="15" name="TextBox 14">
            <a:extLst>
              <a:ext uri="{FF2B5EF4-FFF2-40B4-BE49-F238E27FC236}">
                <a16:creationId xmlns:a16="http://schemas.microsoft.com/office/drawing/2014/main" id="{0D008771-2B51-0C24-774F-5493C5864359}"/>
              </a:ext>
            </a:extLst>
          </p:cNvPr>
          <p:cNvSpPr txBox="1"/>
          <p:nvPr/>
        </p:nvSpPr>
        <p:spPr>
          <a:xfrm>
            <a:off x="129209" y="4716812"/>
            <a:ext cx="2588308" cy="1769715"/>
          </a:xfrm>
          <a:prstGeom prst="rect">
            <a:avLst/>
          </a:prstGeom>
          <a:noFill/>
        </p:spPr>
        <p:txBody>
          <a:bodyPr wrap="square" rtlCol="0">
            <a:spAutoFit/>
          </a:bodyPr>
          <a:lstStyle/>
          <a:p>
            <a:r>
              <a:rPr lang="en-US" altLang="zh-CN" sz="1200" kern="1400" spc="100" dirty="0">
                <a:latin typeface="字魂5号-无外润黑体" panose="00000500000000000000" pitchFamily="2" charset="-122"/>
                <a:ea typeface="字魂5号-无外润黑体" panose="00000500000000000000" pitchFamily="2" charset="-122"/>
                <a:sym typeface="思源黑体 CN Normal" panose="020B0400000000000000" pitchFamily="34" charset="-122"/>
              </a:rPr>
              <a:t>On this page, you can control permissions for guards, such as allowing them to, see the access log of the box, receive notifications from the box on the app, detect people, and view battery life.</a:t>
            </a:r>
          </a:p>
          <a:p>
            <a:endParaRPr lang="en-US" sz="1300" dirty="0"/>
          </a:p>
        </p:txBody>
      </p:sp>
      <p:sp>
        <p:nvSpPr>
          <p:cNvPr id="16" name="TextBox 15">
            <a:extLst>
              <a:ext uri="{FF2B5EF4-FFF2-40B4-BE49-F238E27FC236}">
                <a16:creationId xmlns:a16="http://schemas.microsoft.com/office/drawing/2014/main" id="{72329A5D-A2D4-8F8E-A29A-197037B82963}"/>
              </a:ext>
            </a:extLst>
          </p:cNvPr>
          <p:cNvSpPr txBox="1"/>
          <p:nvPr/>
        </p:nvSpPr>
        <p:spPr>
          <a:xfrm>
            <a:off x="2808615" y="4716812"/>
            <a:ext cx="3750378" cy="2215991"/>
          </a:xfrm>
          <a:prstGeom prst="rect">
            <a:avLst/>
          </a:prstGeom>
          <a:noFill/>
        </p:spPr>
        <p:txBody>
          <a:bodyPr wrap="square" rtlCol="0">
            <a:spAutoFit/>
          </a:bodyPr>
          <a:lstStyle/>
          <a:p>
            <a:r>
              <a:rPr lang="en-US" altLang="zh-CN" sz="1050" kern="1400" spc="100" dirty="0">
                <a:latin typeface="字魂5号-无外润黑体" panose="00000500000000000000" pitchFamily="2" charset="-122"/>
                <a:ea typeface="字魂5号-无外润黑体" panose="00000500000000000000" pitchFamily="2" charset="-122"/>
                <a:sym typeface="思源黑体 CN Normal" panose="020B0400000000000000" pitchFamily="34" charset="-122"/>
              </a:rPr>
              <a:t>Night Protection: Activates all protection functions to ensure no one is near the box.</a:t>
            </a:r>
          </a:p>
          <a:p>
            <a:r>
              <a:rPr lang="en-US" altLang="zh-CN" sz="1050" kern="1400" spc="100" dirty="0">
                <a:latin typeface="字魂5号-无外润黑体" panose="00000500000000000000" pitchFamily="2" charset="-122"/>
                <a:ea typeface="字魂5号-无外润黑体" panose="00000500000000000000" pitchFamily="2" charset="-122"/>
                <a:sym typeface="思源黑体 CN Normal" panose="020B0400000000000000" pitchFamily="34" charset="-122"/>
              </a:rPr>
              <a:t>2. Active Remote: Allows you to control and monitor the box remotely.</a:t>
            </a:r>
          </a:p>
          <a:p>
            <a:r>
              <a:rPr lang="en-US" altLang="zh-CN" sz="1050" kern="1400" spc="100" dirty="0">
                <a:latin typeface="字魂5号-无外润黑体" panose="00000500000000000000" pitchFamily="2" charset="-122"/>
                <a:ea typeface="字魂5号-无外润黑体" panose="00000500000000000000" pitchFamily="2" charset="-122"/>
                <a:sym typeface="思源黑体 CN Normal" panose="020B0400000000000000" pitchFamily="34" charset="-122"/>
              </a:rPr>
              <a:t>3. Location Sensor: Activates to ensure the box is in its designated place.</a:t>
            </a:r>
          </a:p>
          <a:p>
            <a:r>
              <a:rPr lang="en-US" altLang="zh-CN" sz="1050" kern="1400" spc="100" dirty="0">
                <a:latin typeface="字魂5号-无外润黑体" panose="00000500000000000000" pitchFamily="2" charset="-122"/>
                <a:ea typeface="字魂5号-无外润黑体" panose="00000500000000000000" pitchFamily="2" charset="-122"/>
                <a:sym typeface="思源黑体 CN Normal" panose="020B0400000000000000" pitchFamily="34" charset="-122"/>
              </a:rPr>
              <a:t>4. Active Keyboard: Controls the LCD and keypad; if deactivated, no data can be entered.</a:t>
            </a:r>
          </a:p>
          <a:p>
            <a:r>
              <a:rPr lang="en-US" altLang="zh-CN" sz="1050" kern="1400" spc="100" dirty="0">
                <a:latin typeface="字魂5号-无外润黑体" panose="00000500000000000000" pitchFamily="2" charset="-122"/>
                <a:ea typeface="字魂5号-无外润黑体" panose="00000500000000000000" pitchFamily="2" charset="-122"/>
                <a:sym typeface="思源黑体 CN Normal" panose="020B0400000000000000" pitchFamily="34" charset="-122"/>
              </a:rPr>
              <a:t>5. Alarm Sound: Stops or activates the alarm sound if something happens.</a:t>
            </a:r>
          </a:p>
          <a:p>
            <a:r>
              <a:rPr lang="en-US" altLang="zh-CN" sz="1050" kern="1400" spc="100" dirty="0">
                <a:latin typeface="字魂5号-无外润黑体" panose="00000500000000000000" pitchFamily="2" charset="-122"/>
                <a:ea typeface="字魂5号-无外润黑体" panose="00000500000000000000" pitchFamily="2" charset="-122"/>
                <a:sym typeface="思源黑体 CN Normal" panose="020B0400000000000000" pitchFamily="34" charset="-122"/>
              </a:rPr>
              <a:t>6. LCD Light: Turns the LCD lights on or off while keeping the keypad operational.</a:t>
            </a:r>
          </a:p>
          <a:p>
            <a:endParaRPr lang="en-US" sz="1200" dirty="0"/>
          </a:p>
        </p:txBody>
      </p:sp>
      <p:sp>
        <p:nvSpPr>
          <p:cNvPr id="17" name="TextBox 16">
            <a:extLst>
              <a:ext uri="{FF2B5EF4-FFF2-40B4-BE49-F238E27FC236}">
                <a16:creationId xmlns:a16="http://schemas.microsoft.com/office/drawing/2014/main" id="{3CACAB37-074B-1A53-3D3B-D04599153CBD}"/>
              </a:ext>
            </a:extLst>
          </p:cNvPr>
          <p:cNvSpPr txBox="1"/>
          <p:nvPr/>
        </p:nvSpPr>
        <p:spPr>
          <a:xfrm>
            <a:off x="6741223" y="5440086"/>
            <a:ext cx="4788168" cy="600164"/>
          </a:xfrm>
          <a:prstGeom prst="rect">
            <a:avLst/>
          </a:prstGeom>
          <a:noFill/>
        </p:spPr>
        <p:txBody>
          <a:bodyPr wrap="square" rtlCol="0">
            <a:spAutoFit/>
          </a:bodyPr>
          <a:lstStyle/>
          <a:p>
            <a:r>
              <a:rPr lang="en-US" altLang="zh-CN" sz="1100" kern="1400" spc="100" dirty="0">
                <a:latin typeface="字魂5号-无外润黑体" panose="00000500000000000000" pitchFamily="2" charset="-122"/>
                <a:ea typeface="字魂5号-无外润黑体" panose="00000500000000000000" pitchFamily="2" charset="-122"/>
                <a:sym typeface="思源黑体 CN Normal" panose="020B0400000000000000" pitchFamily="34" charset="-122"/>
              </a:rPr>
              <a:t>On this page, you can view, monitor photos taken </a:t>
            </a:r>
          </a:p>
          <a:p>
            <a:r>
              <a:rPr lang="en-US" altLang="zh-CN" sz="1100" kern="1400" spc="100" dirty="0">
                <a:latin typeface="字魂5号-无外润黑体" panose="00000500000000000000" pitchFamily="2" charset="-122"/>
                <a:ea typeface="字魂5号-无外润黑体" panose="00000500000000000000" pitchFamily="2" charset="-122"/>
                <a:sym typeface="思源黑体 CN Normal" panose="020B0400000000000000" pitchFamily="34" charset="-122"/>
              </a:rPr>
              <a:t>by the ESP32 camera and the time they were taken.</a:t>
            </a:r>
          </a:p>
          <a:p>
            <a:r>
              <a:rPr lang="en-US" sz="1100" kern="1400" spc="100" dirty="0">
                <a:ea typeface="字魂5号-无外润黑体" panose="00000500000000000000" pitchFamily="2" charset="-122"/>
                <a:sym typeface="思源黑体 CN Normal" panose="020B0400000000000000" pitchFamily="34" charset="-122"/>
              </a:rPr>
              <a:t>We also has ability to delete photos.</a:t>
            </a:r>
            <a:endParaRPr lang="en-US" sz="1100" dirty="0"/>
          </a:p>
        </p:txBody>
      </p:sp>
    </p:spTree>
    <p:extLst>
      <p:ext uri="{BB962C8B-B14F-4D97-AF65-F5344CB8AC3E}">
        <p14:creationId xmlns:p14="http://schemas.microsoft.com/office/powerpoint/2010/main" val="768702335"/>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147</TotalTime>
  <Words>469</Words>
  <Application>Microsoft Office PowerPoint</Application>
  <PresentationFormat>Widescreen</PresentationFormat>
  <Paragraphs>46</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ADLaM Display</vt:lpstr>
      <vt:lpstr>Arial</vt:lpstr>
      <vt:lpstr>Century Gothic</vt:lpstr>
      <vt:lpstr>Wingdings 3</vt:lpstr>
      <vt:lpstr>字魂5号-无外润黑体</vt:lpstr>
      <vt:lpstr>Slice</vt:lpstr>
      <vt:lpstr>Ninja Box App</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Solaiman</dc:creator>
  <cp:lastModifiedBy>Mohamed Solaiman</cp:lastModifiedBy>
  <cp:revision>5</cp:revision>
  <dcterms:created xsi:type="dcterms:W3CDTF">2024-07-11T00:04:36Z</dcterms:created>
  <dcterms:modified xsi:type="dcterms:W3CDTF">2024-07-11T02:32:00Z</dcterms:modified>
</cp:coreProperties>
</file>